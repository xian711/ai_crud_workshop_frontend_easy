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</a:rPr>
              <a:t>AI Harness v5 使用說明</a:t>
            </a:r>
          </a:p>
          <a:p>
            <a:pPr algn="ctr">
              <a:spcAft>
                <a:spcPts val="2000"/>
              </a:spcAft>
            </a:pPr>
            <a:r>
              <a:rPr sz="2200" b="0">
                <a:solidFill>
                  <a:srgbClr val="C9DCF0"/>
                </a:solidFill>
                <a:latin typeface="Microsoft JhengHei"/>
              </a:rPr>
              <a:t>ASP.NET Core API / CRUD / UI 雛形的 AI 協作開發治具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9FC5E8"/>
                </a:solidFill>
                <a:latin typeface="Microsoft JhengHei"/>
              </a:rPr>
              <a:t>「不是 AI 變聰明，而是 Harness 讓 AI 被正確約束」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為什麼需要 Harness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C9DCF0"/>
                </a:solidFill>
                <a:latin typeface="Microsoft JhengHei"/>
              </a:rPr>
              <a:t>Model 是引擎，Harness 是流程與治具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2000" b="0">
                <a:solidFill>
                  <a:srgbClr val="1A2332"/>
                </a:solidFill>
                <a:latin typeface="Microsoft JhengHei"/>
              </a:rPr>
              <a:t>•  沒有約束的 AI：亂猜 response 格式、發明商業規則、用假資料冒充完成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2332"/>
                </a:solidFill>
                <a:latin typeface="Microsoft JhengHei"/>
              </a:rPr>
              <a:t>•  Harness 用「規格（SDD）＋測試（TDD）＋閘門（Review）」限制 AI，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2332"/>
                </a:solidFill>
                <a:latin typeface="Microsoft JhengHei"/>
              </a:rPr>
              <a:t>　讓它只能在可 review、可驗證、可修正的範圍內工作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2332"/>
                </a:solidFill>
                <a:latin typeface="Microsoft JhengHei"/>
              </a:rPr>
              <a:t>•  AI 負責快速產生第一版：規格草稿、測試、程式草稿、UI 草稿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2332"/>
                </a:solidFill>
                <a:latin typeface="Microsoft JhengHei"/>
              </a:rPr>
              <a:t>•  工程師負責：判斷商業邏輯、review、決定是否採用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六條鐵律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C9DCF0"/>
                </a:solidFill>
                <a:latin typeface="Microsoft JhengHei"/>
              </a:rPr>
              <a:t>每條都有「為什麼」——不可違反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1463040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A6EBD"/>
                </a:solidFill>
                <a:latin typeface="Microsoft JhengHei"/>
              </a:rPr>
              <a:t>1. SDD first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Microsoft JhengHei"/>
              </a:rPr>
              <a:t>規格沒有的不做，範圍外預設移除｜AI 會過度發揮，規格是唯一授權來源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394960" cy="1463040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A6EBD"/>
                </a:solidFill>
                <a:latin typeface="Microsoft JhengHei"/>
              </a:rPr>
              <a:t>2. 誠實原則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Microsoft JhengHei"/>
              </a:rPr>
              <a:t>未實作回 501 不回假資料；效能標 [待實機]｜假 200 比沒做更危險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63240"/>
            <a:ext cx="5394960" cy="1463040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A6EBD"/>
                </a:solidFill>
                <a:latin typeface="Microsoft JhengHei"/>
              </a:rPr>
              <a:t>3. 審寫分離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Microsoft JhengHei"/>
              </a:rPr>
              <a:t>產碼與審查不同對話｜同一對話自審看不見自己的盲點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063240"/>
            <a:ext cx="5394960" cy="1463040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A6EBD"/>
                </a:solidFill>
                <a:latin typeface="Microsoft JhengHei"/>
              </a:rPr>
              <a:t>4. 驗證自帶回圈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Microsoft JhengHei"/>
              </a:rPr>
              <a:t>產出掛驗證、修正必複驗｜靠人記得驗一定會漏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54880"/>
            <a:ext cx="5394960" cy="1463040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A6EBD"/>
                </a:solidFill>
                <a:latin typeface="Microsoft JhengHei"/>
              </a:rPr>
              <a:t>5. 越權即標記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Microsoft JhengHei"/>
              </a:rPr>
              <a:t>[SA 確認] [SD 待定] [DEV 實作]｜標記踢回比錯誤的猜測便宜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394960" cy="1463040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A6EBD"/>
                </a:solidFill>
                <a:latin typeface="Microsoft JhengHei"/>
              </a:rPr>
              <a:t>6. 互動式決策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Microsoft JhengHei"/>
              </a:rPr>
              <a:t>人工決策用選擇題取得答案｜只列清單人不回應，給選項能立刻決定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三個 Mode，一套 loop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C9DCF0"/>
                </a:solidFill>
                <a:latin typeface="Microsoft JhengHei"/>
              </a:rPr>
              <a:t>依情境選指令；不另建重複流程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557784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情境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Mode / 指令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重點產出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後端 API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API　/api-loop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SDD、Mock、TDD、測試草稿、OpenAPI(dev)、curl smoke＋.http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後端＋CRUD 畫面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CRUD　/crud-loop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再加 UI Spec、Design System Mapping、Page Draft、Token Check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純畫面雛形（無後端）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UI　/ui-loop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UI Spec、Page Draft（綁 mock、TODO: DEV 串接）、待人工目視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D3B66"/>
                </a:solidFill>
                <a:latin typeface="Microsoft JhengHei"/>
              </a:rPr>
              <a:t>閘門順序：SPEC → BUILD → MILESTONE → REVIEW → DONE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A6B7F"/>
                </a:solidFill>
                <a:latin typeface="Microsoft JhengHei"/>
              </a:rPr>
              <a:t>Milestone＝文件與 UML 圖同步＋重構掃描（程式迭代文件必掉隊；過時的圖比沒圖更糟）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A6B7F"/>
                </a:solidFill>
                <a:latin typeface="Microsoft JhengHei"/>
              </a:rPr>
              <a:t>Review＝新對話審查：三維度＋雙向偵測（AI 不只會漏做、也會過度設計）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Microsoft JhengHei"/>
              </a:rPr>
              <a:t>完工三關：TASKS 無 [ ] 殘留 → Done Criteria 成立 → Review 無 ❌；AI 只報「候選完工」，核可在人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驗證分級：由便宜到貴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C9DCF0"/>
                </a:solidFill>
                <a:latin typeface="Microsoft JhengHei"/>
              </a:rPr>
              <a:t>前一級不過就不跑下一級；每條指令標註成本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852160"/>
                <a:gridCol w="1463040"/>
                <a:gridCol w="265176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級別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成本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時機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L0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build / typecheck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零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每次改碼後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L1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自動化測試 dotnet test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低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每個 loop 結尾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L2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API smoke：curl.exe 實打、貼真實回應、附指令、同步 .http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低中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API 實作完成後必跑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L3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真實瀏覽器 E2E（外部 API 一律 mock）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Microsoft JhengHei"/>
                        </a:rPr>
                        <a:t>預設跳過，驗收才跑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Microsoft JhengHei"/>
              </a:rPr>
              <a:t>誠實原則落點：跑不起來就標 blocker，不得捏造輸出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逐檔詳解（一）：規則與工作檔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C9DCF0"/>
                </a:solidFill>
                <a:latin typeface="Microsoft JhengHei"/>
              </a:rPr>
              <a:t>四層原則：HARNESS＝規則、commands＝動作、modules＝細節、docs＝參考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2976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檔案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為何要設定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HARNESS.md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鐵律、Mode 流程、驗證分級、輸出格式（規則 single source）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規則散在多檔會漂移，AI 讀到的版本必須一致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CLAUDE.md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路由器：鐵律濃縮＋需求→指令對照表，不放細節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CLAUDE.md 常駐每行都付 token；細節放按需載入的 command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harness/SPEC.md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規格範本：FR/BR/TC 編號、Mermaid 圖、Done Criteria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編號→審查覆蓋矩陣；Done Criteria→完成可判定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harness/TASKS.md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WBS：checkbox 每條標 FR＋驗證方式，驗證過才勾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機器可掃；TASKS=進度、git=證據、LOOP=活待辦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harness/CODE-RULES-api / -ui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後端與前端規範分兩檔＋範本清單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按面向拆檔：API 開發不載 UI 規則，反之亦然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harness/LESSONS.md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錯誤防範庫：問題→原因→防範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同樣的坑 AI 會重複踩，開工前必掃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harness/LOOP.md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loop 狀態：只記待辦不記已完成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記已完成吃上下文、誘導 AI 自我滿足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逐檔詳解（二）：指令與模組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480560"/>
                <a:gridCol w="40233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檔案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為何要設定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/api-loop /crud-loop /ui-loop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三種情境的固定流程：輸出前四檢查、Token Check、L2 smoke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一句指令觸發固定流程，避免 prompt 品質不一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/milestone-loop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段落收尾：文件與 UML 同步＋重構掃描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文件必掉隊；重構集中處理不順手大改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/review-loop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審查：三維度＋DG/OE 雙向偵測、覆蓋矩陣、❌⚠️💡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必須新對話（鐵律 3）；抓漏做也抓過度設計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modules/crud-ui/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表單慣例＋design token 檢查（check→fix→複驗）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規範寫成可執行檢查才守得住；不確定不自動改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modules/review/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審查規則＋通用檢查清單（清單頁/表單/Modal/API）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資深工程師隱性知識顯性化，新人也能照著審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modules/verify/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L2 smoke 與 L3 瀏覽器驗證的實戰規則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每條都是常見翻車點；成本標註可見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skills/gis-frontend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GIS 前端角色：地圖規則與實戰坑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skill 描述常駐一行、本文觸發才載入，零常駐成本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templates/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.http、UML 骨架、mock、TDD、權限 allowlist、接手既有系統盤點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32"/>
                          </a:solidFill>
                          <a:latin typeface="Microsoft JhengHei"/>
                        </a:rPr>
                        <a:t>AI 照範本填而非自由發揮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三堂工作坊（各 2 小時）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064240" cy="1508760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D3B66"/>
                </a:solidFill>
                <a:latin typeface="Microsoft JhengHei"/>
              </a:rPr>
              <a:t>① API Mode　—　查詢派工單清單 API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1A2332"/>
                </a:solidFill>
                <a:latin typeface="Microsoft JhengHei"/>
              </a:rPr>
              <a:t>無/有 Harness 對比；誠實原則演練（故意留未實作端點）；L2 smoke 實打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063240"/>
            <a:ext cx="11064240" cy="1508760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D3B66"/>
                </a:solidFill>
                <a:latin typeface="Microsoft JhengHei"/>
              </a:rPr>
              <a:t>② CRUD Mode　—　設備資料維護 CRUD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1A2332"/>
                </a:solidFill>
                <a:latin typeface="Microsoft JhengHei"/>
              </a:rPr>
              <a:t>UI Spec 先行；Token 檢查閉環（故意塞硬編碼看收斂）；雛形改用 /ui-loop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64240" cy="1508760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D3B66"/>
                </a:solidFill>
                <a:latin typeface="Microsoft JhengHei"/>
              </a:rPr>
              <a:t>③ Review＋收尾　—　審查閘門與段落收尾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1A2332"/>
                </a:solidFill>
                <a:latin typeface="Microsoft JhengHei"/>
              </a:rPr>
              <a:t>新對話審查修 ❌；/milestone-loop 文件與 UML 同步；L3 驗收；導入討論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公司導入節奏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C9DCF0"/>
                </a:solidFill>
                <a:latin typeface="Microsoft JhengHei"/>
              </a:rPr>
              <a:t>先熟悉再上正式專案；規範逐步公司化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1A2332"/>
                </a:solidFill>
                <a:latin typeface="Microsoft JhengHei"/>
              </a:rPr>
              <a:t>第一週：每人選熟悉 API 跑 API Mode（不要求 merge）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1A2332"/>
                </a:solidFill>
                <a:latin typeface="Microsoft JhengHei"/>
              </a:rPr>
              <a:t>第二週：低風險 CRUD 或 UI 雛形，review 是否符合 Design System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1A2332"/>
                </a:solidFill>
                <a:latin typeface="Microsoft JhengHei"/>
              </a:rPr>
              <a:t>第一個月：補齊 CODE-RULES、Design System 摘要、error code 表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1A2332"/>
                </a:solidFill>
                <a:latin typeface="Microsoft JhengHei"/>
              </a:rPr>
              <a:t>第二～三個月：pattern 入 Harness、累積 LESSONS、/review-loop 納入 code review、真實小功能試導入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937760"/>
            <a:ext cx="10972800" cy="1280160"/>
          </a:xfrm>
          <a:prstGeom prst="roundRect">
            <a:avLst/>
          </a:prstGeom>
          <a:solidFill>
            <a:srgbClr val="FFFBF3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B45309"/>
                </a:solidFill>
                <a:latin typeface="Microsoft JhengHei"/>
              </a:rPr>
              <a:t>帶回去的三句話</a:t>
            </a: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1A2332"/>
                </a:solidFill>
                <a:latin typeface="Microsoft JhengHei"/>
              </a:rPr>
              <a:t>規格沒有的不做；做不到的誠實說；審查的人不寫碼。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